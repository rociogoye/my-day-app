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e1fd2e29ea4a84" /><Relationship Type="http://schemas.openxmlformats.org/officeDocument/2006/relationships/extended-properties" Target="/docProps/app.xml" Id="R4a70886c03874929" /><Relationship Type="http://schemas.openxmlformats.org/officeDocument/2006/relationships/officeDocument" Target="/ppt/presentation.xml" Id="R2c0411e1fc144a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bf8b900e6841a8"/>
  </p:sldMasterIdLst>
  <p:notesMasterIdLst>
    <p:notesMasterId xmlns:r="http://schemas.openxmlformats.org/officeDocument/2006/relationships" r:id="R4b5dc0df17d84c88"/>
  </p:notesMasterIdLst>
  <p:sldIdLst>
    <p:sldId xmlns:r="http://schemas.openxmlformats.org/officeDocument/2006/relationships" id="256" r:id="R47e632ada33449e9"/>
    <p:sldId xmlns:r="http://schemas.openxmlformats.org/officeDocument/2006/relationships" id="257" r:id="R5e6edad975554718"/>
    <p:sldId xmlns:r="http://schemas.openxmlformats.org/officeDocument/2006/relationships" id="258" r:id="Rbc4adcd230274225"/>
    <p:sldId xmlns:r="http://schemas.openxmlformats.org/officeDocument/2006/relationships" id="259" r:id="Rfb5e674da076476d"/>
    <p:sldId xmlns:r="http://schemas.openxmlformats.org/officeDocument/2006/relationships" id="260" r:id="R64395fbc8a1747e8"/>
    <p:sldId xmlns:r="http://schemas.openxmlformats.org/officeDocument/2006/relationships" id="261" r:id="R594100c975fa4951"/>
    <p:sldId xmlns:r="http://schemas.openxmlformats.org/officeDocument/2006/relationships" id="262" r:id="R96e22815e0fd4d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79ee2406774f1a" /><Relationship Type="http://schemas.openxmlformats.org/officeDocument/2006/relationships/slideMaster" Target="/ppt/slideMasters/slideMaster1.xml" Id="R76bf8b900e6841a8" /><Relationship Type="http://schemas.openxmlformats.org/officeDocument/2006/relationships/notesMaster" Target="/ppt/notesMasters/notesMaster1.xml" Id="R4b5dc0df17d84c88" /><Relationship Type="http://schemas.openxmlformats.org/officeDocument/2006/relationships/presProps" Target="/ppt/presProps.xml" Id="Rcda920767c4c4772" /><Relationship Type="http://schemas.openxmlformats.org/officeDocument/2006/relationships/tableStyles" Target="/ppt/tableStyles.xml" Id="Rb05aa6cc39204251" /><Relationship Type="http://schemas.openxmlformats.org/officeDocument/2006/relationships/slide" Target="/ppt/slides/slide1.xml" Id="R47e632ada33449e9" /><Relationship Type="http://schemas.openxmlformats.org/officeDocument/2006/relationships/slide" Target="/ppt/slides/slide2.xml" Id="R5e6edad975554718" /><Relationship Type="http://schemas.openxmlformats.org/officeDocument/2006/relationships/slide" Target="/ppt/slides/slide3.xml" Id="Rbc4adcd230274225" /><Relationship Type="http://schemas.openxmlformats.org/officeDocument/2006/relationships/slide" Target="/ppt/slides/slide4.xml" Id="Rfb5e674da076476d" /><Relationship Type="http://schemas.openxmlformats.org/officeDocument/2006/relationships/slide" Target="/ppt/slides/slide5.xml" Id="R64395fbc8a1747e8" /><Relationship Type="http://schemas.openxmlformats.org/officeDocument/2006/relationships/slide" Target="/ppt/slides/slide6.xml" Id="R594100c975fa4951" /><Relationship Type="http://schemas.openxmlformats.org/officeDocument/2006/relationships/slide" Target="/ppt/slides/slide7.xml" Id="R96e22815e0fd4d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45340590144e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6a60a38d014edf" /><Relationship Type="http://schemas.openxmlformats.org/officeDocument/2006/relationships/notesMaster" Target="/ppt/notesMasters/notesMaster1.xml" Id="Rf18b77bfe84e44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05d3a5539244b0" /><Relationship Type="http://schemas.openxmlformats.org/officeDocument/2006/relationships/notesMaster" Target="/ppt/notesMasters/notesMaster1.xml" Id="Red304067fd0a4e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a24bc064234619" /><Relationship Type="http://schemas.openxmlformats.org/officeDocument/2006/relationships/notesMaster" Target="/ppt/notesMasters/notesMaster1.xml" Id="Rfd373865ec9c47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5d44c191cb4a56" /><Relationship Type="http://schemas.openxmlformats.org/officeDocument/2006/relationships/notesMaster" Target="/ppt/notesMasters/notesMaster1.xml" Id="Rd5c1098efc7a4d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0bac777cab4b99" /><Relationship Type="http://schemas.openxmlformats.org/officeDocument/2006/relationships/notesMaster" Target="/ppt/notesMasters/notesMaster1.xml" Id="R2bbeb4eb10054d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205b6a9815479b" /><Relationship Type="http://schemas.openxmlformats.org/officeDocument/2006/relationships/notesMaster" Target="/ppt/notesMasters/notesMaster1.xml" Id="R5a3a615ddb2342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64173678b44c5b" /><Relationship Type="http://schemas.openxmlformats.org/officeDocument/2006/relationships/notesMaster" Target="/ppt/notesMasters/notesMaster1.xml" Id="R225dfe8b420044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Day es una aplicación web de productividad amable. Nace para ayudar a organizar el día sin convertir la planificación en una fuente más de presión. La idea es sencilla: elegir la siguiente acción posible y avanzar con calma. Duración aproximada: 20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Muchas personas trabajan cambiando de una tarea a otra, sin tener claro qué es prioritario. Las tareas grandes se posponen, se olvidan pendientes y el día termina con sensación de deuda. My Day parte de una pregunta concreta: cuál es el siguiente paso más pequeño. Duración aproximada: 25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Day reúne las tareas del día, permite elegir prioridades y convertir una tarea grande en pasos pequeños. También ofrece sesiones de concentración, notas, logros y pendientes para mañana. La aplicación acompaña el ritmo de la persona, sin exigir perfección. Duración aproximada: 25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Utilicé la inteligencia artificial como una colaboradora en distintas etapas: desde la ideación y la definición de requisitos hasta el diseño, el código, la revisión y las pruebas. Su papel fue acelerar el trabajo y proponer alternativas. La IA fue copiloto, no piloto automático. Duración aproximada: 25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inteligencia artificial no tomó las decisiones finales. Yo definí el problema, elegí las funcionalidades, revisé las respuestas, comprobé que la aplicación funcionara y decidí el tono de la experiencia. Era importante evitar mensajes que generaran presión, culpa o sensación de fracaso. Duración aproximada: 25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es la aplicación final. El panel principal concentra la siguiente acción, el progreso amable, las sesiones de concentración y el calendario. La lista de tareas permite priorizar, dividir en subtareas y empezar una sesión. También incorpora highlights y estadísticas para reconocer avances. Duración aproximada: 25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Day busca tener un uso real: reducir la multitarea, concentrarse en la siguiente acción y guardar lo pendiente para liberar espacio mental. La inteligencia artificial aceleró el proceso, pero el problema, la experiencia y las decisiones finales fueron humanas. Avanzar poco también es avanzar. Duración aproximada: 20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292964ae64e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31551d60cf4915" /><Relationship Type="http://schemas.openxmlformats.org/officeDocument/2006/relationships/slideLayout" Target="/ppt/slideLayouts/slideLayout1.xml" Id="Ra7a251d62cd84b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a251d62cd84b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35f8ef8624361" /><Relationship Type="http://schemas.openxmlformats.org/officeDocument/2006/relationships/image" Target="/ppt/media/image.png" Id="R78e776a3ff404dcd" /><Relationship Type="http://schemas.openxmlformats.org/officeDocument/2006/relationships/notesSlide" Target="/ppt/notesSlides/notesSlide1.xml" Id="R8b35a047e78748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f773d76f74a86" /><Relationship Type="http://schemas.openxmlformats.org/officeDocument/2006/relationships/notesSlide" Target="/ppt/notesSlides/notesSlide2.xml" Id="Rd83c59c8428143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9972ca73a4ec7" /><Relationship Type="http://schemas.openxmlformats.org/officeDocument/2006/relationships/image" Target="/ppt/media/image2.png" Id="Rbf8a5cde482145ff" /><Relationship Type="http://schemas.openxmlformats.org/officeDocument/2006/relationships/notesSlide" Target="/ppt/notesSlides/notesSlide3.xml" Id="R181019cbb87d43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5e187628d4177" /><Relationship Type="http://schemas.openxmlformats.org/officeDocument/2006/relationships/notesSlide" Target="/ppt/notesSlides/notesSlide4.xml" Id="R486f765a9cf74d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bd08fb8e74272" /><Relationship Type="http://schemas.openxmlformats.org/officeDocument/2006/relationships/notesSlide" Target="/ppt/notesSlides/notesSlide5.xml" Id="Rbe582f64345842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4a890380140c2" /><Relationship Type="http://schemas.openxmlformats.org/officeDocument/2006/relationships/image" Target="/ppt/media/image3.png" Id="R318744c2676f476f" /><Relationship Type="http://schemas.openxmlformats.org/officeDocument/2006/relationships/image" Target="/ppt/media/image4.png" Id="R8ce73593e3a44f86" /><Relationship Type="http://schemas.openxmlformats.org/officeDocument/2006/relationships/notesSlide" Target="/ppt/notesSlides/notesSlide6.xml" Id="R5174193c1c9040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b3eba279641aa" /><Relationship Type="http://schemas.openxmlformats.org/officeDocument/2006/relationships/notesSlide" Target="/ppt/notesSlides/notesSlide7.xml" Id="R0743eb3aa2da42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9DDD5-4CF7-4DDE-BB56-93D5E483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E2427-0CB2-4F59-B109-E220E3BF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62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00F32-825B-4F3E-85BD-A184B5AC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085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0856A"/>
                </a:solidFill>
                <a:latin typeface="Aptos"/>
                <a:ea typeface="Aptos"/>
                <a:cs typeface="Aptos"/>
              </a:rPr>
              <a:t>MY 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EDEAD-A275-479D-8B6B-930C3211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61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Organizar el día,</a:t>
            </a:r>
          </a:p>
          <a:p xmlns:a="http://schemas.openxmlformats.org/drawingml/2006/main">
            <a:pPr>
              <a:defRPr sz="420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avanzar sin presión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70E1C-794A-40A4-B009-83545757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Una aplicación web de productividad amable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4015A-1E8C-437B-8512-E5141318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3048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DDF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AC76D-F3EF-4B73-8698-13FF619E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1482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8060A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060A7"/>
                </a:solidFill>
                <a:latin typeface="Aptos"/>
                <a:ea typeface="Aptos"/>
                <a:cs typeface="Aptos"/>
              </a:rPr>
              <a:t>Máster Online en IA e Innovación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77D4B-A3F8-4EAE-A54C-E51C42FE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Proyecto desarrollado por Rocío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776a3ff404dcd"/>
          <a:srcRect xmlns:a="http://schemas.openxmlformats.org/drawingml/2006/main" l="15293" t="0" r="152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123950"/>
            <a:ext cx="4762500" cy="4495800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20CB3-1CEE-45D4-A78C-8D11884A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19750"/>
            <a:ext cx="36766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FE5D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2C254-1227-42AD-9F0D-218A4C10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772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0856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50856A"/>
                </a:solidFill>
                <a:latin typeface="Aptos"/>
                <a:ea typeface="Aptos"/>
                <a:cs typeface="Aptos"/>
              </a:rPr>
              <a:t>Un día posible, paso a paso</a:t>
            </a:r>
          </a:p>
        </p:txBody>
      </p:sp>
    </p:spTree>
    <p:extLst>
      <p:ext uri="{BB962C8B-B14F-4D97-AF65-F5344CB8AC3E}">
        <p14:creationId xmlns:p14="http://schemas.microsoft.com/office/powerpoint/2010/main" val="5986152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33ED22-7ECB-4D69-A1E3-7D75E7A0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085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0856A"/>
                </a:solidFill>
                <a:latin typeface="Aptos"/>
                <a:ea typeface="Aptos"/>
                <a:cs typeface="Aptos"/>
              </a:rPr>
              <a:t>MY 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5F573-0946-467E-81FA-02A1D66E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EL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4EA1C-F56A-49ED-8709-32171C1F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667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5EFCC-E130-431B-B544-F3586258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E33DA-C240-4908-9E6C-09F5E4F1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076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Cuando todo parece</a:t>
            </a:r>
          </a:p>
          <a:p xmlns:a="http://schemas.openxmlformats.org/drawingml/2006/main">
            <a:pPr>
              <a:defRPr sz="330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urgente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3CBC9-899D-48F9-974D-71B9E0C8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519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La carga mental no se resuelve con otra lista interminable.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067EA-F394-4049-A6C5-B8B569EA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4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7E32D-71E6-4116-85CB-112865FC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97AA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97AAE"/>
                </a:solidFill>
                <a:latin typeface="Aptos"/>
                <a:ea typeface="Aptos"/>
                <a:cs typeface="Aptos"/>
              </a:rPr>
              <a:t>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15921-AC7E-440E-A75E-84829550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242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Multitarea constante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E6CF1-8898-48A1-9329-0AB59262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DD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41188-F227-4B92-AA58-92F8C22A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060A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8060A7"/>
                </a:solidFill>
                <a:latin typeface="Aptos"/>
                <a:ea typeface="Aptos"/>
                <a:cs typeface="Aptos"/>
              </a:rPr>
              <a:t>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27A33-B980-4892-855F-D766C896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766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Cuesta priorizar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412C0-A221-4F18-8ED0-D798DDD8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A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0E6B0-8F6B-4371-9D47-440CA0F9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56A5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C56A57"/>
                </a:solidFill>
                <a:latin typeface="Aptos"/>
                <a:ea typeface="Aptos"/>
                <a:cs typeface="Aptos"/>
              </a:rPr>
              <a:t>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B0AE9-96F2-4CEA-9306-55AB6BF5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291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Las tareas grandes se aplazan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7017C-3EB8-47D9-9DAF-6E45D569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5D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0FFA7-A229-496C-9674-1D4EA519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0856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50856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AC672E-F958-42B2-A29C-E3FFA6C7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815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Pendientes que se olvidan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8F9E90-8DC3-45F3-B4F7-D7C8B579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9D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4BF494-8EE1-4193-9CC1-C4FB72E8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956C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956C3E"/>
                </a:solidFill>
                <a:latin typeface="Aptos"/>
                <a:ea typeface="Aptos"/>
                <a:cs typeface="Aptos"/>
              </a:rPr>
              <a:t>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7C723-F2B1-46BF-8818-ECC58569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340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La cabeza sigue trabajando al dormir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E89EA2-670D-47FF-9053-F94BD05F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667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1F2D60-9449-4741-B937-BA470BE9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La pregunta que cambia el foco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E612AB-9ACB-495B-A6D4-FFE42094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24150"/>
            <a:ext cx="3524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¿Cuál es el</a:t>
            </a:r>
          </a:p>
          <a:p xmlns:a="http://schemas.openxmlformats.org/drawingml/2006/main">
            <a:pPr>
              <a:defRPr sz="285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siguiente paso</a:t>
            </a:r>
          </a:p>
          <a:p xmlns:a="http://schemas.openxmlformats.org/drawingml/2006/main">
            <a:pPr>
              <a:defRPr sz="285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más pequeño?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B51DAD-DE88-4B3A-960D-9CE50E44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67300"/>
            <a:ext cx="1409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B6A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39612E-1AE3-47A1-AF13-1B384549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435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56A5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C56A57"/>
                </a:solidFill>
                <a:latin typeface="Aptos"/>
                <a:ea typeface="Aptos"/>
                <a:cs typeface="Aptos"/>
              </a:rPr>
              <a:t>Menos presión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984DB7-0266-40EF-895C-BCC28F2B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67300"/>
            <a:ext cx="1352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FE5D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ADCC8D-3D69-459A-9F63-7052B506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4350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085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0856A"/>
                </a:solidFill>
                <a:latin typeface="Aptos"/>
                <a:ea typeface="Aptos"/>
                <a:cs typeface="Aptos"/>
              </a:rPr>
              <a:t>Más claridad</a:t>
            </a:r>
          </a:p>
        </p:txBody>
      </p:sp>
    </p:spTree>
    <p:extLst>
      <p:ext uri="{BB962C8B-B14F-4D97-AF65-F5344CB8AC3E}">
        <p14:creationId xmlns:p14="http://schemas.microsoft.com/office/powerpoint/2010/main" val="1630760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06F76F-BEFA-4731-84D8-996A4DD6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085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0856A"/>
                </a:solidFill>
                <a:latin typeface="Aptos"/>
                <a:ea typeface="Aptos"/>
                <a:cs typeface="Aptos"/>
              </a:rPr>
              <a:t>MY 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3FA7A-BE00-4A45-865A-092570BE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LA 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93504-CF60-4770-AD92-488740D8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667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507D8-6BF5-4453-AC74-40B425E5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6A103-41B1-4A39-8140-21B10B38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815"/>
          </a:bodyPr>
          <a:lstStyle xmlns:a="http://schemas.openxmlformats.org/drawingml/2006/main"/>
          <a:p xmlns:a="http://schemas.openxmlformats.org/drawingml/2006/main">
            <a:pPr>
              <a:defRPr sz="337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Una guía amable</a:t>
            </a:r>
          </a:p>
          <a:p xmlns:a="http://schemas.openxmlformats.org/drawingml/2006/main">
            <a:pPr>
              <a:defRPr sz="337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para el día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7CA60-E648-41E8-ACE9-0BFCCCF9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My Day convierte la intención en una acción posible.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C618F-A9C8-4ADD-A438-D981D154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4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D235D-5BA3-4320-A347-E7F32645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766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397AA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397AAE"/>
                </a:solidFill>
                <a:latin typeface="Aptos"/>
                <a:ea typeface="Aptos"/>
                <a:cs typeface="Aptos"/>
              </a:rPr>
              <a:t>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12CE8-3BFA-47A5-A992-9B05CF95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286125"/>
            <a:ext cx="314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778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Organizar tareas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805B6-9312-4A7D-8196-9D9BCF44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43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DD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558C3-DE31-40A0-8A19-38697360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0047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8060A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8060A7"/>
                </a:solidFill>
                <a:latin typeface="Aptos"/>
                <a:ea typeface="Aptos"/>
                <a:cs typeface="Aptos"/>
              </a:rPr>
              <a:t>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0E316-0CB1-4E51-B2AF-0AF9B81C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10000"/>
            <a:ext cx="314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778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Elegir prioridades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62100-B8C9-48D4-A202-7F356660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A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CCCEF-0612-442D-AC19-2A68F6C8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243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56A5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56A57"/>
                </a:solidFill>
                <a:latin typeface="Aptos"/>
                <a:ea typeface="Aptos"/>
                <a:cs typeface="Aptos"/>
              </a:rPr>
              <a:t>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F3A94-CDE2-4976-89A9-1A6E78CF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333875"/>
            <a:ext cx="314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778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Dividir lo grande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369A4-F336-4A5B-9011-3E71A94E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91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5D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DDB1D-8CB7-4B99-81E4-E259A8F0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4822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0856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0856A"/>
                </a:solidFill>
                <a:latin typeface="Aptos"/>
                <a:ea typeface="Aptos"/>
                <a:cs typeface="Aptos"/>
              </a:rPr>
              <a:t>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E1E745-3403-423F-BA64-604B09B0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57750"/>
            <a:ext cx="314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778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Concentrarse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68D88B-33F8-4AC4-A260-EC872C00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9D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A931A-DD98-499F-8E92-80E69F35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721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56C3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956C3E"/>
                </a:solidFill>
                <a:latin typeface="Aptos"/>
                <a:ea typeface="Aptos"/>
                <a:cs typeface="Aptos"/>
              </a:rPr>
              <a:t>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E6D42-D6AF-4E5D-8D18-665ABBB9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381625"/>
            <a:ext cx="314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778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Guardar para mañana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a5cde482145ff"/>
          <a:srcRect xmlns:a="http://schemas.openxmlformats.org/drawingml/2006/main" l="0" t="1788" r="0" b="17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0200" y="1333500"/>
            <a:ext cx="6172200" cy="4114800"/>
          </a:xfrm>
          <a:prstGeom xmlns:a="http://schemas.openxmlformats.org/drawingml/2006/main" prst="roundRect">
            <a:avLst>
              <a:gd name="adj" fmla="val 3704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F71870-F087-4376-8E26-1735AAEF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769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E9D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A7614F-3CAB-4D04-9FDB-33142EE5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7531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956C3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56C3E"/>
                </a:solidFill>
                <a:latin typeface="Aptos"/>
                <a:ea typeface="Aptos"/>
                <a:cs typeface="Aptos"/>
              </a:rPr>
              <a:t>Prioridad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2FB599-9F7E-4320-B1EC-FA848327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769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DDF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AC4DB7-10CC-45E2-9735-CDE8CCC4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7531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8060A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060A7"/>
                </a:solidFill>
                <a:latin typeface="Aptos"/>
                <a:ea typeface="Aptos"/>
                <a:cs typeface="Aptos"/>
              </a:rPr>
              <a:t>Subtareas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B8001B-732A-4773-8DA6-798C860E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676900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FE5D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938EFE-F1DB-4F1C-B065-C5AF0973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753100"/>
            <a:ext cx="1114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085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0856A"/>
                </a:solidFill>
                <a:latin typeface="Aptos"/>
                <a:ea typeface="Aptos"/>
                <a:cs typeface="Aptos"/>
              </a:rPr>
              <a:t>Sesión de foco</a:t>
            </a:r>
          </a:p>
        </p:txBody>
      </p:sp>
    </p:spTree>
    <p:extLst>
      <p:ext uri="{BB962C8B-B14F-4D97-AF65-F5344CB8AC3E}">
        <p14:creationId xmlns:p14="http://schemas.microsoft.com/office/powerpoint/2010/main" val="1982776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3F417D-3983-4FD1-BC2E-2535253D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085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0856A"/>
                </a:solidFill>
                <a:latin typeface="Aptos"/>
                <a:ea typeface="Aptos"/>
                <a:cs typeface="Aptos"/>
              </a:rPr>
              <a:t>MY 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19026-7BE9-4FB6-BA8C-5E173D2E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IA COMO COPILOTO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C819C-6F4A-421C-AA80-7D533797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667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E05D0-FEEC-4F1C-AEB8-B037DD33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DCB7C-1677-4911-B8C7-E209E09C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970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Colaboración</a:t>
            </a:r>
          </a:p>
          <a:p xmlns:a="http://schemas.openxmlformats.org/drawingml/2006/main">
            <a:pPr>
              <a:defRPr sz="330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humano +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4ED49-448E-447B-B11D-EA87F00D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La IA ayudó a explorar, concretar y revisar.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59220-B151-40E7-898E-D66DF7CD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A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B87AA-ED2F-42E3-B5F5-2386DDBA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917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56A5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56A5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E1734-F5FD-4664-9430-5EAFA943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Ideación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92E3D-1575-423F-94C1-6B3389BF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14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9D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7F9F0-4D2F-4D9D-AD89-5CA4011A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09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917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56C3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956C3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C2208-43F7-4835-A90C-4C1C3765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099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Requisitos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0FC25-1E7A-4EE6-8605-7CC5962B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14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DD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C0BC7-E70F-4236-B959-4E7F40F1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09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917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8060A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8060A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BB4B4-E203-4192-A835-F10B8DDA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99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Diseño UX/UI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F7DE1-A070-41E3-8D45-168AAF15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4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D3798-C2A4-48A1-BDDC-6E3CD2B6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917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397AA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397AA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A5141-8DD8-465C-A9D6-79D59B83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Código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20E803-7113-49A7-8EB4-AD08B468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43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5D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587B25-F992-47DE-8329-AFE137D1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386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917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0856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0856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25EC3-718C-4469-B045-ECDF7021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386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Revisión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0D0DB8-291B-4CBB-AA0B-9C9AB6B1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43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A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720C44-1F30-460D-A19A-9DE932D7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386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917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56A5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56A5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18A2C1-57BD-4E9E-B9CE-A2F4E00D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Prototipado y pruebas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55BC19-F218-4A71-9C36-BB5CF6BF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33550"/>
            <a:ext cx="2857500" cy="3238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E0D8F8-D2A6-4E89-BEB5-8948EC68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0275"/>
            <a:ext cx="80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8060A7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8060A7"/>
                </a:solidFill>
                <a:latin typeface="Aptos"/>
                <a:ea typeface="Aptos"/>
                <a:cs typeface="Aptos"/>
              </a:rPr>
              <a:t>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154A0B-2774-41F2-92BE-77CE3CBD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384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copiloto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5CC3C4-FF9D-40D0-9B65-6E413C77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242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17635D-7678-411F-AA76-4924A0FB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38525"/>
            <a:ext cx="201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41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Acelera el proceso.</a:t>
            </a:r>
          </a:p>
          <a:p xmlns:a="http://schemas.openxmlformats.org/drawingml/2006/main">
            <a:pPr>
              <a:defRPr sz="17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No sustituye el criterio.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5A4BF1-7696-416F-8E8B-218EEE08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05425"/>
            <a:ext cx="3333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DDF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F2C85D-7BAB-4D73-86BF-86815C37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81625"/>
            <a:ext cx="3067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8060A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060A7"/>
                </a:solidFill>
                <a:latin typeface="Aptos"/>
                <a:ea typeface="Aptos"/>
                <a:cs typeface="Aptos"/>
              </a:rPr>
              <a:t>La IA es copiloto, no piloto automático</a:t>
            </a:r>
          </a:p>
        </p:txBody>
      </p:sp>
    </p:spTree>
    <p:extLst>
      <p:ext uri="{BB962C8B-B14F-4D97-AF65-F5344CB8AC3E}">
        <p14:creationId xmlns:p14="http://schemas.microsoft.com/office/powerpoint/2010/main" val="20999587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001E02-28D4-441B-9CF8-D9407028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085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0856A"/>
                </a:solidFill>
                <a:latin typeface="Aptos"/>
                <a:ea typeface="Aptos"/>
                <a:cs typeface="Aptos"/>
              </a:rPr>
              <a:t>MY 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37429-4528-4766-8120-F84C135E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MI CRITERIO HUMANO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BAC98-7E87-4192-9B16-A6FA30AA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667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D613B-861A-4654-BB93-0D7409E1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0712D-AD4B-4447-8555-8F209B5C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815"/>
          </a:bodyPr>
          <a:lstStyle xmlns:a="http://schemas.openxmlformats.org/drawingml/2006/main"/>
          <a:p xmlns:a="http://schemas.openxmlformats.org/drawingml/2006/main">
            <a:pPr>
              <a:defRPr sz="337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La decisión</a:t>
            </a:r>
          </a:p>
          <a:p xmlns:a="http://schemas.openxmlformats.org/drawingml/2006/main">
            <a:pPr>
              <a:defRPr sz="337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final fue humana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FE153-FD94-4CF3-BC46-E1B66E00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Rocío define, evalúa y valida cada paso.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E9889-20D7-4CB0-BFD5-DD8DA580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56A5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C56A5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CF066-3A9E-43BB-B9C9-E95E9B85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2897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77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Definir el problema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E63B3-5536-453A-AEC8-9DC7A970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57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Para quién y para qué sirve My 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37C46-9F90-403C-B5FE-8E6A92C7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598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16CC4-1A87-4C4A-8166-4876D755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956C3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56C3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B25EF-9F4E-4239-A8D0-F83FB85A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814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77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Elegir funciones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409FE-02C7-48DE-9E12-15481D6E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10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Qué aporta claridad al día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F2E83-9FC7-45FE-8856-6334CA0E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598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25C07-3A84-4D56-981F-D7537215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8060A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060A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7148A-013D-44C0-8F6D-60E4A7C8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3387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77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Revisar la 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33FE19-A15E-424D-A7D9-3F1DBBF3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62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Detectar errores y afinar propuestas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54CBD2-6EB5-45F5-B865-F524A9C8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86300"/>
            <a:ext cx="598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8C3D68-B739-4412-A8A8-1A16513A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97AA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397AA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653998-AF16-4776-8D7C-AC62E275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863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77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Comprobar la app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5281B6-2BC9-41AD-BB2A-5CBBCBA1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Validar que el flujo funciona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3F3EAA-C043-4678-B92C-A397A5F2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38750"/>
            <a:ext cx="598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364998-D2BD-4DB1-B98B-8EC4A797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085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0856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40226D-84CC-4ED7-BFAF-77C1C0C0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3877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77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Decidir el tono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CB4A80-5F24-4078-A56E-FEC8BD1B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67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Acompañar sin presión ni culpa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87F258-1D0F-49F1-87F4-295684AD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91200"/>
            <a:ext cx="598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DCCEEA-C679-49F3-B432-1C938A83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3528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CFE5D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F361D2-E5D4-45B6-8155-AA4DD50C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25241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247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La experiencia</a:t>
            </a:r>
          </a:p>
          <a:p xmlns:a="http://schemas.openxmlformats.org/drawingml/2006/main">
            <a:pPr>
              <a:defRPr sz="247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247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también es una</a:t>
            </a:r>
          </a:p>
          <a:p xmlns:a="http://schemas.openxmlformats.org/drawingml/2006/main">
            <a:pPr>
              <a:defRPr sz="247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247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decisión.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B19680-901C-4184-8C5B-6E39876F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05225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0856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50856A"/>
                </a:solidFill>
                <a:latin typeface="Aptos"/>
                <a:ea typeface="Aptos"/>
                <a:cs typeface="Aptos"/>
              </a:rPr>
              <a:t>Sin mensajes que generen</a:t>
            </a:r>
          </a:p>
          <a:p xmlns:a="http://schemas.openxmlformats.org/drawingml/2006/main">
            <a:pPr>
              <a:defRPr sz="1350" b="1" i="0">
                <a:solidFill>
                  <a:srgbClr val="50856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50856A"/>
                </a:solidFill>
                <a:latin typeface="Aptos"/>
                <a:ea typeface="Aptos"/>
                <a:cs typeface="Aptos"/>
              </a:rPr>
              <a:t>culpa o sensación de fracaso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062A21-68ED-4C93-912C-20B77DE8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219700"/>
            <a:ext cx="1676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B6A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11712A-03C2-4231-BDB6-EB4BA081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2959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56A5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C56A57"/>
                </a:solidFill>
                <a:latin typeface="Aptos"/>
                <a:ea typeface="Aptos"/>
                <a:cs typeface="Aptos"/>
              </a:rPr>
              <a:t>Criterio humano</a:t>
            </a:r>
          </a:p>
        </p:txBody>
      </p:sp>
    </p:spTree>
    <p:extLst>
      <p:ext uri="{BB962C8B-B14F-4D97-AF65-F5344CB8AC3E}">
        <p14:creationId xmlns:p14="http://schemas.microsoft.com/office/powerpoint/2010/main" val="17209909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27701-3E71-4AEC-B998-A865D9E1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085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0856A"/>
                </a:solidFill>
                <a:latin typeface="Aptos"/>
                <a:ea typeface="Aptos"/>
                <a:cs typeface="Aptos"/>
              </a:rPr>
              <a:t>MY 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E7A14-0132-49AE-981E-F33FEE66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LA APLICACIÓN FINAL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5C879-7F58-4DE1-977D-30D671E1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667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FF425-91B5-455D-889C-A36CB874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392DC-0DD0-4159-BAB9-54874C9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600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287"/>
          </a:bodyPr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Una herramienta para</a:t>
            </a:r>
          </a:p>
          <a:p xmlns:a="http://schemas.openxmlformats.org/drawingml/2006/main">
            <a:pPr>
              <a:defRPr sz="32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avanzar paso a paso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5B441-9420-4E27-907F-35FF78A6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Panel principal, tareas, foco, calendario y progreso en un mismo lugar.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744c2676f476f"/>
          <a:srcRect xmlns:a="http://schemas.openxmlformats.org/drawingml/2006/main" l="0" t="11706" r="0" b="11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257550"/>
            <a:ext cx="5124450" cy="2571750"/>
          </a:xfrm>
          <a:prstGeom xmlns:a="http://schemas.openxmlformats.org/drawingml/2006/main" prst="roundRect">
            <a:avLst>
              <a:gd name="adj" fmla="val 5926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73593e3a44f86"/>
          <a:srcRect xmlns:a="http://schemas.openxmlformats.org/drawingml/2006/main" l="0" t="16680" r="0" b="166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3257550"/>
            <a:ext cx="5581650" cy="2571750"/>
          </a:xfrm>
          <a:prstGeom xmlns:a="http://schemas.openxmlformats.org/drawingml/2006/main" prst="roundRect">
            <a:avLst>
              <a:gd name="adj" fmla="val 592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3747D-5232-4458-AD32-42457380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371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FE4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1B432-FDFB-4D84-9186-AC1E9559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388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97AA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397AAE"/>
                </a:solidFill>
                <a:latin typeface="Aptos"/>
                <a:ea typeface="Aptos"/>
                <a:cs typeface="Aptos"/>
              </a:rPr>
              <a:t>Panel principal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8BE37-2492-4FB0-B0E3-A9C12D5D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62650"/>
            <a:ext cx="1314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B6A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612F8-00CF-46AD-B43A-48AB94E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0388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56A5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C56A57"/>
                </a:solidFill>
                <a:latin typeface="Aptos"/>
                <a:ea typeface="Aptos"/>
                <a:cs typeface="Aptos"/>
              </a:rPr>
              <a:t>Empieza ahora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8E567-B03E-48E5-A71B-8AF148C1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962650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FE5D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C65DA-4F49-4796-B558-3516BED2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0388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085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0856A"/>
                </a:solidFill>
                <a:latin typeface="Aptos"/>
                <a:ea typeface="Aptos"/>
                <a:cs typeface="Aptos"/>
              </a:rPr>
              <a:t>Pomodoro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F2A18-36DF-4EE2-97B7-2DA5B9DF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62650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DDF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7EEC9A-06A7-4665-96D1-47610D09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0388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8060A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060A7"/>
                </a:solidFill>
                <a:latin typeface="Aptos"/>
                <a:ea typeface="Aptos"/>
                <a:cs typeface="Aptos"/>
              </a:rPr>
              <a:t>Calendario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696FE-C5F3-4DF6-95B2-EB6D8AB2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962650"/>
            <a:ext cx="1028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E9D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5D92A8-1B0A-48A7-AEC5-C566B817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0388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956C3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56C3E"/>
                </a:solidFill>
                <a:latin typeface="Aptos"/>
                <a:ea typeface="Aptos"/>
                <a:cs typeface="Aptos"/>
              </a:rPr>
              <a:t>Highlights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470577-B936-41D8-8C65-09450287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962650"/>
            <a:ext cx="1200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FE5D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82A84B-47B8-4351-825D-9F84D8BE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388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085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0856A"/>
                </a:solidFill>
                <a:latin typeface="Aptos"/>
                <a:ea typeface="Aptos"/>
                <a:cs typeface="Aptos"/>
              </a:rPr>
              <a:t>Estadísticas</a:t>
            </a:r>
          </a:p>
        </p:txBody>
      </p:sp>
    </p:spTree>
    <p:extLst>
      <p:ext uri="{BB962C8B-B14F-4D97-AF65-F5344CB8AC3E}">
        <p14:creationId xmlns:p14="http://schemas.microsoft.com/office/powerpoint/2010/main" val="18196618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D1F490-1F24-428E-BA14-05C2E1A4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085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0856A"/>
                </a:solidFill>
                <a:latin typeface="Aptos"/>
                <a:ea typeface="Aptos"/>
                <a:cs typeface="Aptos"/>
              </a:rPr>
              <a:t>MY 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34006-58F4-462E-8644-81240336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CONCLUSIÓN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71F78-0C46-412C-A85E-C7A541D8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667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C8268-94A6-4987-A22B-D661C7B1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E1C97-ABD0-44AD-BCC3-16FA57F8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81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815"/>
          </a:bodyPr>
          <a:lstStyle xmlns:a="http://schemas.openxmlformats.org/drawingml/2006/main"/>
          <a:p xmlns:a="http://schemas.openxmlformats.org/drawingml/2006/main">
            <a:pPr>
              <a:defRPr sz="337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Productividad</a:t>
            </a:r>
          </a:p>
          <a:p xmlns:a="http://schemas.openxmlformats.org/drawingml/2006/main">
            <a:pPr>
              <a:defRPr sz="337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con menos carga mental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56A1B-C016-4601-BD1C-07A87DD9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B7B7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6B7B73"/>
                </a:solidFill>
                <a:latin typeface="Aptos"/>
                <a:ea typeface="Aptos"/>
                <a:cs typeface="Aptos"/>
              </a:rPr>
              <a:t>My Day tiene un uso real para días reales.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43085-30E9-4033-8DDF-CDC642BA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4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41127-E7AC-49DF-9609-0C326442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528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97AA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97AAE"/>
                </a:solidFill>
                <a:latin typeface="Aptos"/>
                <a:ea typeface="Aptos"/>
                <a:cs typeface="Aptos"/>
              </a:rPr>
              <a:t>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ED766-0825-4D6B-A377-69F3E623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62325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Reduce la multitarea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0034E-302F-4C5D-8736-025E5605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DD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631A1-345E-46EA-8566-D6409F16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43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060A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8060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3C4300-5B2E-45FC-A433-2AA11815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33825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Pone el foco en la siguiente acción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71E2C-805F-4DA2-B617-D7BCBAC8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5D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8F728-1BEA-4B35-A902-099301B7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958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0856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50856A"/>
                </a:solidFill>
                <a:latin typeface="Aptos"/>
                <a:ea typeface="Aptos"/>
                <a:cs typeface="Aptos"/>
              </a:rPr>
              <a:t>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D1316-6BA9-40DC-B492-571BF732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05325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Guarda pendientes y libera espacio mental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867DF-95FF-4DD2-91AC-9DB32035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A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754DAB-221B-48CA-A266-3588FAF0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673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56A5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C56A57"/>
                </a:solidFill>
                <a:latin typeface="Aptos"/>
                <a:ea typeface="Aptos"/>
                <a:cs typeface="Aptos"/>
              </a:rPr>
              <a:t>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0E901-AB30-4BF3-A67D-0253AD5D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76825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La IA aceleró el proceso; el criterio fue humano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81EFE8-2704-4A4F-8F67-F7657D42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3714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962999-2585-489B-BA77-8726A10A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90775"/>
            <a:ext cx="2743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98"/>
          </a:bodyPr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Avanzar poco</a:t>
            </a:r>
          </a:p>
          <a:p xmlns:a="http://schemas.openxmlformats.org/drawingml/2006/main">
            <a:pPr>
              <a:defRPr sz="32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también es</a:t>
            </a:r>
          </a:p>
          <a:p xmlns:a="http://schemas.openxmlformats.org/drawingml/2006/main">
            <a:pPr>
              <a:defRPr sz="3225" b="1" i="0">
                <a:solidFill>
                  <a:srgbClr val="273833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273833"/>
                </a:solidFill>
                <a:latin typeface="Aptos"/>
                <a:ea typeface="Aptos"/>
                <a:cs typeface="Aptos"/>
              </a:rPr>
              <a:t>avanzar.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37DBCA-1991-4D07-BEBD-D29BBA16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3862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0856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50856A"/>
                </a:solidFill>
                <a:latin typeface="Aptos"/>
                <a:ea typeface="Aptos"/>
                <a:cs typeface="Aptos"/>
              </a:rPr>
              <a:t>Gracias por tu tiempo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AED50-9854-44E1-9BB3-90C69A5C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197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B6A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560B3D-A022-493B-A4F5-614D9518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9590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56A5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C56A57"/>
                </a:solidFill>
                <a:latin typeface="Aptos"/>
                <a:ea typeface="Aptos"/>
                <a:cs typeface="Aptos"/>
              </a:rPr>
              <a:t>My Day · a tu ritmo</a:t>
            </a:r>
          </a:p>
        </p:txBody>
      </p:sp>
    </p:spTree>
    <p:extLst>
      <p:ext uri="{BB962C8B-B14F-4D97-AF65-F5344CB8AC3E}">
        <p14:creationId xmlns:p14="http://schemas.microsoft.com/office/powerpoint/2010/main" val="371423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2026-09-25T14:46:32.1770000Z</dcterms:created>
  <dcterms:modified xsi:type="dcterms:W3CDTF">2026-09-25T14:46:32.1770000Z</dcterms:modified>
</coreProperties>
</file>